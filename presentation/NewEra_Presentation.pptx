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692640" y="-1280160"/>
            <a:ext cx="3840480" cy="384048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420624" cy="420624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6400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CONCEPTION DE PAGES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 été construit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d'accueil </a:t>
            </a:r>
            <a:pPr indent="0" marL="0">
              <a:buNone/>
            </a:pPr>
            <a:r>
              <a:rPr lang="en-US" sz="24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 </a:t>
            </a:r>
            <a:pPr indent="0" marL="0">
              <a:buNone/>
            </a:pPr>
            <a:r>
              <a:rPr lang="en-US" sz="2400" b="1" dirty="0">
                <a:solidFill>
                  <a:srgbClr val="ED22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Villa Agata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prototype — structure, choix de design et prochaines étapes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989320"/>
            <a:ext cx="2194560" cy="0"/>
          </a:xfrm>
          <a:prstGeom prst="line">
            <a:avLst/>
          </a:prstGeom>
          <a:noFill/>
          <a:ln w="25400">
            <a:solidFill>
              <a:srgbClr val="ED22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Promotion Immobilière   ·   12 Juillet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couvre cette présentation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664208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 &amp; système de design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2020824"/>
            <a:ext cx="4507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commun aux deux pages : palette, structure, principes.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384048" cy="38404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01968" y="1664208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d'accueil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01968" y="2020824"/>
            <a:ext cx="4507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la page et principaux choix de conception.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84048" cy="38404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3081528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Villa Agata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4128" y="3438144"/>
            <a:ext cx="4507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template réutilisable pour les 4 résidences.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108960"/>
            <a:ext cx="384048" cy="38404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01968" y="3081528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interactives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01968" y="3438144"/>
            <a:ext cx="4507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Carrousels, images cliquables, mode sombre.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384048" cy="38404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4128" y="4498848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en attente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24128" y="4855464"/>
            <a:ext cx="4507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reste à trancher avant la mise en ligne.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4526280"/>
            <a:ext cx="384048" cy="38404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01968" y="4498848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 étape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01968" y="4855464"/>
            <a:ext cx="4507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suit une fois ce prototype validé.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PROMOTION IMMOBILIÈRE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système de design commun aux deux pages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page est construite comme un prototype réel et navigable (fichier HTML, pas une maquette statique), à partir des contenus, rendus 3D et plans déjà fournis — le projet n'ayant pas encore démarré, il n'existe pas encore de vraie photographie ; aucune information ni image n'est inventée pour autant. Les deux pages partagent la même base visuelle, validée ensemble étape par étape.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— VERROUILLÉE PAR LE CLIENT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188720" cy="1188720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3520440"/>
            <a:ext cx="1188720" cy="11887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352044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3520440"/>
            <a:ext cx="1188720" cy="118872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1508760"/>
            <a:ext cx="5212080" cy="3977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APPLIQUÉS AUX DEUX PAGES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2340864"/>
            <a:ext cx="109728" cy="10972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8" name="Text 16"/>
          <p:cNvSpPr/>
          <p:nvPr/>
        </p:nvSpPr>
        <p:spPr>
          <a:xfrm>
            <a:off x="7114032" y="22311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Cartes « frameless 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14032" y="2532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bord à bord, sans cadre ni marge — les images parlent d'elles-mêmes.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3182112"/>
            <a:ext cx="109728" cy="10972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21" name="Text 19"/>
          <p:cNvSpPr/>
          <p:nvPr/>
        </p:nvSpPr>
        <p:spPr>
          <a:xfrm>
            <a:off x="7114032" y="30723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Coins carrés, 2px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14032" y="3374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Écho au logo de la marque (« le carré : structure et maîtrise »).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4023360"/>
            <a:ext cx="109728" cy="10972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24" name="Text 22"/>
          <p:cNvSpPr/>
          <p:nvPr/>
        </p:nvSpPr>
        <p:spPr>
          <a:xfrm>
            <a:off x="7114032" y="39136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Ombre au survol uniquement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14032" y="42153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plates au repos ; la profondeur n'apparaît qu'à l'interaction.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0" y="4864608"/>
            <a:ext cx="109728" cy="10972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27" name="Text 25"/>
          <p:cNvSpPr/>
          <p:nvPr/>
        </p:nvSpPr>
        <p:spPr>
          <a:xfrm>
            <a:off x="7114032" y="47548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sombre natif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14032" y="50566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automatique + manuelle, mémorisée pour chaque visiteur.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PROMOTION IMMOBILIÈRE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de la page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5448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0" cy="621792"/>
          </a:xfrm>
          <a:prstGeom prst="rect">
            <a:avLst/>
          </a:prstGeom>
          <a:solidFill>
            <a:srgbClr val="282828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28800"/>
            <a:ext cx="3895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vidéo de présentation (rendu 3D)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48716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piliers de valeur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41148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852928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Résidences — grille 4 cartes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346704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346704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Histoire — visuel + texte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785616"/>
            <a:ext cx="41148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785616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— 3 visuels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187952"/>
            <a:ext cx="4114800" cy="402336"/>
          </a:xfrm>
          <a:prstGeom prst="rect">
            <a:avLst/>
          </a:prstGeom>
          <a:solidFill>
            <a:srgbClr val="282828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18795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Matériaux — bande sombre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626864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626864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Vision — visuel + texte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5065776"/>
            <a:ext cx="41148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065776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chaque résidence — 6 icônes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5431536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5431536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+ Terrain + Footer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BREF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1965960"/>
            <a:ext cx="27432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191109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page, un seul fichier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221284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Navigable dans un navigateur, images et vidéo liées (pas de mockup statique).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2862072"/>
            <a:ext cx="27432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28072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Vidéo de présentation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1089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3D du projet (172 Mo → 4 Mo compressé) — chantier non démarré, pas encore de vidéo filmée.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0" y="3758184"/>
            <a:ext cx="27432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40680" y="37033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 extrait du brand book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40050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Directement depuis le PDF de marque, pas une reconstitution.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0" y="4654296"/>
            <a:ext cx="27432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654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40680" y="459943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sections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40680" y="490118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l'en-tête au footer, en suivant le plan validé en Phase 3.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PROMOTION IMMOBILIÈRE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611880" cy="1783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837944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031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Vidéo au lieu d'une image fixe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2496312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hero utilise le rendu vidéo 3D du projet (chantier non démarré) ; une image de secours s'affiche sur mobile pour économiser les données.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0248" y="1600200"/>
            <a:ext cx="3611880" cy="1783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837944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031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sombre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26280" y="2496312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manuelle + détection automatique des préférences du visiteur, mémorisée d'une visite à l'autre.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83296" y="1600200"/>
            <a:ext cx="3611880" cy="1783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9328" y="1837944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21031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Cartes « frameless »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39328" y="2496312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Résidences, galerie et matériaux partagent le même traitement : visuels bord à bord, sans cadre, un fin trait rouge apparaît au survol.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611880" cy="1783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3803904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0690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Icônes rouges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4462272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icônes de « Dans chaque résidence » sont rouges en permanence, pas seulement au survol — plus lisible, plus affirmé.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70248" y="3566160"/>
            <a:ext cx="3611880" cy="1783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3803904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40690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Matériaux — extraits des rendus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26280" y="4462272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vignettes sont des gros plans pris dans les rendus 3D existants (pierre, moulure, fer forgé) — aucune image inventée, mais pas encore de vraie photo.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83296" y="3566160"/>
            <a:ext cx="3611880" cy="1783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9328" y="3803904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27" name="Text 25"/>
          <p:cNvSpPr/>
          <p:nvPr/>
        </p:nvSpPr>
        <p:spPr>
          <a:xfrm>
            <a:off x="8339328" y="40690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identité visuelle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39328" y="4462272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Palette, typographie et composants sont les mêmes que sur la page Villa Agata — le site se lit comme un seul produit.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PROMOTION IMMOBILIÈRE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Optimisée pour le mobile, pas seulement redimensionnée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92608" cy="29260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8249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vidéo ne charge pas sur mobile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700px, seule l'image de la vidéo s'affiche — évite 4 Mo de données inutiles et ménage la batterie.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292608" cy="29260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7340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Boutons de 44×44px minimum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0815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menu, bascule sombre, flèches de carrousel — taille standard d'accessibilité tactile, plusieurs étaient trop petits initialement.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292608" cy="29260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78561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Zones de sécurité des téléphones récents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1330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menu, l'en-tête et le bouton d'appel flottant respectent l'encoche et la barre de gestes (iPhone et Android récents).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292608" cy="29260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92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8371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mobile fonctionnel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1846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menu ne faisait rien au départ — un vrai panneau plein écran a été construit, avec fermeture et verrouillage du défilement.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PROMOTION IMMOBILIÈRE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VILLA AGATA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de la page — template réutilisable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274320"/>
          </a:xfrm>
          <a:prstGeom prst="rect">
            <a:avLst/>
          </a:prstGeom>
          <a:solidFill>
            <a:srgbClr val="282828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5448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fil d'ariane (sur le visuel)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4114800" cy="621792"/>
          </a:xfrm>
          <a:prstGeom prst="rect">
            <a:avLst/>
          </a:prstGeom>
          <a:solidFill>
            <a:srgbClr val="282828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65376"/>
            <a:ext cx="3895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plein écran — rendu 3D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523744"/>
            <a:ext cx="411480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52374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d'informations (lieu, lots, typologie)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907792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— description + carrousel de visuels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4114800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401568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— 8 cartes avec icônes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4114800" cy="365760"/>
          </a:xfrm>
          <a:prstGeom prst="rect">
            <a:avLst/>
          </a:prstGeom>
          <a:solidFill>
            <a:srgbClr val="282828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58768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plein cadre (respiration)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261104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261104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3D — carrousel des 4 typologies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700016"/>
            <a:ext cx="411480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700016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Comparateur des autres résidences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5084064"/>
            <a:ext cx="4114800" cy="384048"/>
          </a:xfrm>
          <a:prstGeom prst="rect">
            <a:avLst/>
          </a:prstGeom>
          <a:solidFill>
            <a:srgbClr val="282828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084064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rendez-vous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5504688"/>
            <a:ext cx="4114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550468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+ barre d'actions mobile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BREF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1965960"/>
            <a:ext cx="27432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191109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template, quatre résidences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221284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sur Villa Agata comme cas test ; la même structure s'appliquera à Veronica, Christina et Catrina.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2862072"/>
            <a:ext cx="27432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28072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Contenu fourni par le client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1089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repris tel quel ; visuels et plans issus des dossiers fournis — des rendus 3D, le projet n'ayant pas encore démarré.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0" y="3758184"/>
            <a:ext cx="27432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40680" y="37033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 technique en filigrane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40050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Lieu, nombre de lots et typologie visibles sans détourner l'attention des visuels.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0" y="4654296"/>
            <a:ext cx="27432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654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40680" y="459943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Rendez-vous pré-rempli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40680" y="490118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arrive déjà réglé sur « Villa Agata » quand on vient de cette page.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PROMOTION IMMOBILIÈRE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VILLA AGATA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page affinée en plusieurs allers-retours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retour client a fait évoluer la page vers plus de clarté — l'historique complet est consigné dans le journal de projet.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24328" cy="3383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331720"/>
            <a:ext cx="365760" cy="365760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initiale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216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complète : fiche technique, caractéristiques, galerie et plans en grille, comparateur, formulaire.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2103120"/>
            <a:ext cx="2624328" cy="3383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47288" y="2331720"/>
            <a:ext cx="365760" cy="365760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7288" y="28803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« portée par l'image 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47288" y="3383280"/>
            <a:ext cx="216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plein écran, fiche technique allégée en barre fine, galerie en mosaïque, image de respiration ajoutée.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0176" y="2103120"/>
            <a:ext cx="2624328" cy="3383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8776" y="2331720"/>
            <a:ext cx="365760" cy="365760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8" name="Text 16"/>
          <p:cNvSpPr/>
          <p:nvPr/>
        </p:nvSpPr>
        <p:spPr>
          <a:xfrm>
            <a:off x="6208776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08776" y="28803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08776" y="3383280"/>
            <a:ext cx="216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et plans transformés en carrousels ; chaque photo s'ouvre en grand (plein écran, navigation clavier).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41664" y="2103120"/>
            <a:ext cx="2624328" cy="3383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8970264" y="2331720"/>
            <a:ext cx="365760" cy="365760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23" name="Text 21"/>
          <p:cNvSpPr/>
          <p:nvPr/>
        </p:nvSpPr>
        <p:spPr>
          <a:xfrm>
            <a:off x="8970264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70264" y="28803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Simplification finale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970264" y="3383280"/>
            <a:ext cx="216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galerie générale, avec la description du bien juste au-dessus — plus de doublon entre le texte et les photos.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PROMOTION IMMOBILIÈRE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L'interactivité commune aux deux pages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22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8013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Carrousels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286000"/>
            <a:ext cx="4700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et plans se parcourent avec des flèches ou en glissant (souris, trackpad ou doigt) — pas de bouton mort, pas de conflit de clic.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69164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22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18013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 cliquables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91072" y="2286000"/>
            <a:ext cx="4700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photo et chaque plan s'ouvre en plein écran (« lightbox ») avec légende, flèches suivant/précédent et fermeture au clavier (Échap).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22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9502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sombre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4434840"/>
            <a:ext cx="4700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Basculement manuel ou automatique selon les préférences du visiteur, mémorisé d'une visite à l'autre — homogène sur les deux pages.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84048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384048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22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75120" y="39502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 d'actions mobile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91072" y="4434840"/>
            <a:ext cx="4700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téléphone, Appeler / WhatsApp / Rendez-vous restent toujours accessibles en bas d'écran, sans gêner la lecture.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PROMOTION IMMOBILIÈRE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EN ATTENTE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reste à trancher avant la mise en ligne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0789920" cy="78638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892808"/>
            <a:ext cx="384048" cy="38404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7830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encore de vraie photographie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78308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n'a pas démarré : tous les visuels sont des rendus 3D. La vraie photographie ne sera possible qu'une fois le chantier avancé.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10789920" cy="78638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2807208"/>
            <a:ext cx="384048" cy="38404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26974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Numéros de téléphone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269748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boutons Appeler / WhatsApp utilisent un numéro provisoire — à remplacer par les vrais numéros.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10789920" cy="78638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3721608"/>
            <a:ext cx="384048" cy="38404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36118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Formulaire de rendez-vous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361188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est prête ; le traitement des demandes (envoi, routage) reste à brancher en Phase 6.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10789920" cy="78638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4636008"/>
            <a:ext cx="384048" cy="38404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7008" y="45262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des rendus 3D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452628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rendus montrent des artefacts visibles de près — une retouche est possible en attendant que le chantier avance.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349240"/>
            <a:ext cx="10789920" cy="78638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5550408"/>
            <a:ext cx="384048" cy="384048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07008" y="54406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résidences restantes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544068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Veronica, Christina et Catrina suivront le même template une fois celui-ci validé.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PROMOTION IMMOBILIÈRE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097280" y="4206240"/>
            <a:ext cx="3840480" cy="384048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420624" cy="420624"/>
          </a:xfrm>
          <a:prstGeom prst="rect">
            <a:avLst/>
          </a:prstGeom>
          <a:solidFill>
            <a:srgbClr val="ED222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6400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2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attente de votre validation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la page d'accueil et le template Villa Agata approuvés, la même structure sera déclinée pour Villa Veronica, Villa Christina et Villa Catrina — avec leurs propres textes, rendus et plans.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 Veronica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4297680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 Christina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4297680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0372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 Catrina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989320"/>
            <a:ext cx="2194560" cy="0"/>
          </a:xfrm>
          <a:prstGeom prst="line">
            <a:avLst/>
          </a:prstGeom>
          <a:noFill/>
          <a:ln w="25400">
            <a:solidFill>
              <a:srgbClr val="ED22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New Era Promotion Immobilière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2026-07-12T13:27:36Z</dcterms:created>
  <dcterms:modified xsi:type="dcterms:W3CDTF">2026-07-12T13:27:36Z</dcterms:modified>
</cp:coreProperties>
</file>